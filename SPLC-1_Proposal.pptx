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2" Type="http://schemas.openxmlformats.org/officeDocument/2006/relationships/notesSlide" Target="../notesSlides/notesSlide5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9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9" Type="http://schemas.openxmlformats.org/officeDocument/2006/relationships/notesSlide" Target="../notesSlides/notesSlide6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25.xml"/><Relationship Id="rId16" Type="http://schemas.openxmlformats.org/officeDocument/2006/relationships/tags" Target="../tags/tag24.xml"/><Relationship Id="rId15" Type="http://schemas.openxmlformats.org/officeDocument/2006/relationships/tags" Target="../tags/tag23.xml"/><Relationship Id="rId14" Type="http://schemas.openxmlformats.org/officeDocument/2006/relationships/tags" Target="../tags/tag22.xml"/><Relationship Id="rId13" Type="http://schemas.openxmlformats.org/officeDocument/2006/relationships/tags" Target="../tags/tag21.xml"/><Relationship Id="rId12" Type="http://schemas.openxmlformats.org/officeDocument/2006/relationships/tags" Target="../tags/tag20.xml"/><Relationship Id="rId11" Type="http://schemas.openxmlformats.org/officeDocument/2006/relationships/tags" Target="../tags/tag19.xml"/><Relationship Id="rId10" Type="http://schemas.openxmlformats.org/officeDocument/2006/relationships/tags" Target="../tags/tag18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01945" y="640080"/>
            <a:ext cx="1188720" cy="1188720"/>
          </a:xfrm>
          <a:prstGeom prst="ellipse">
            <a:avLst/>
          </a:prstGeom>
          <a:solidFill>
            <a:srgbClr val="CADCFC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6265" y="9144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1965960"/>
            <a:ext cx="12191695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SPCL-1</a:t>
            </a:r>
            <a:endParaRPr lang="en-US" sz="6000" dirty="0"/>
          </a:p>
        </p:txBody>
      </p:sp>
      <p:sp>
        <p:nvSpPr>
          <p:cNvPr id="5" name="Text 2"/>
          <p:cNvSpPr txBox="1"/>
          <p:nvPr/>
        </p:nvSpPr>
        <p:spPr>
          <a:xfrm>
            <a:off x="0" y="3017520"/>
            <a:ext cx="12191695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Low-Cost, Home-Built Sounding Rocket — Design Proposal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0" y="5623560"/>
            <a:ext cx="12191695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Orbithon — WSW Hackathon 2026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Beyond Orbit: Democratising Access &amp; Launch Infrastructure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0" y="6355080"/>
            <a:ext cx="12191695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Agboola David · Space Clubs, Lagos State University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708660"/>
            <a:ext cx="228600" cy="228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457200"/>
            <a:ext cx="102412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00200"/>
            <a:ext cx="6675120" cy="3291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Commercial rocket kits and motors are expensive and difficult to import across Africa.</a:t>
            </a:r>
            <a:endParaRPr lang="en-US" sz="1600" dirty="0"/>
          </a:p>
          <a:p>
            <a:pPr marL="342900" indent="-342900" algn="l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Hands-on space education and real payload testing stay out of reach for many student teams.</a:t>
            </a:r>
            <a:endParaRPr lang="en-US" sz="1600" dirty="0"/>
          </a:p>
          <a:p>
            <a:pPr marL="342900" indent="-342900" algn="l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University and grassroots groups need an affordable path to learn real rocketry fundamentals.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589520" y="1600200"/>
            <a:ext cx="4050792" cy="1828800"/>
          </a:xfrm>
          <a:prstGeom prst="roundRect">
            <a:avLst>
              <a:gd name="adj" fmla="val 4000"/>
            </a:avLst>
          </a:prstGeom>
          <a:solidFill>
            <a:srgbClr val="EDF1FA"/>
          </a:solidFill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863840" y="1828800"/>
            <a:ext cx="3502152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Core Barrier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2377440"/>
            <a:ext cx="3502152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It's cost and import access holding teams back — not a lack of interest or talent.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708660"/>
            <a:ext cx="228600" cy="228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457200"/>
            <a:ext cx="102412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Proposed Solution: SPCL-1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low-cost, home-built sounding rocket using repurposed materials and a standard commercial motor.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103120"/>
            <a:ext cx="3584448" cy="2468880"/>
          </a:xfrm>
          <a:prstGeom prst="roundRect">
            <a:avLst>
              <a:gd name="adj" fmla="val 2963"/>
            </a:avLst>
          </a:prstGeom>
          <a:solidFill>
            <a:srgbClr val="EDF1FA"/>
          </a:solidFill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2377440"/>
            <a:ext cx="502920" cy="50292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8" name="Text 5"/>
          <p:cNvSpPr txBox="1"/>
          <p:nvPr/>
        </p:nvSpPr>
        <p:spPr>
          <a:xfrm>
            <a:off x="822960" y="23774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063240"/>
            <a:ext cx="3035808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Nose Cone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520440"/>
            <a:ext cx="3035808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Repurposed plastic champagne glass — pre-shaped, near-zero cost.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47972" y="2103120"/>
            <a:ext cx="3584448" cy="2468880"/>
          </a:xfrm>
          <a:prstGeom prst="roundRect">
            <a:avLst>
              <a:gd name="adj" fmla="val 2963"/>
            </a:avLst>
          </a:prstGeom>
          <a:solidFill>
            <a:srgbClr val="EDF1FA"/>
          </a:solidFill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22292" y="2377440"/>
            <a:ext cx="502920" cy="50292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3" name="Text 10"/>
          <p:cNvSpPr txBox="1"/>
          <p:nvPr/>
        </p:nvSpPr>
        <p:spPr>
          <a:xfrm>
            <a:off x="4622292" y="23774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4622292" y="3063240"/>
            <a:ext cx="3035808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Airframe Body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4622292" y="3520440"/>
            <a:ext cx="3035808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Golf-bag tube with plywood/balsa fins, bonded with epoxy &amp; hot glue.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147304" y="2103120"/>
            <a:ext cx="3584448" cy="2468880"/>
          </a:xfrm>
          <a:prstGeom prst="roundRect">
            <a:avLst>
              <a:gd name="adj" fmla="val 2963"/>
            </a:avLst>
          </a:prstGeom>
          <a:solidFill>
            <a:srgbClr val="EDF1FA"/>
          </a:solidFill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421624" y="2377440"/>
            <a:ext cx="502920" cy="50292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8" name="Text 15"/>
          <p:cNvSpPr txBox="1"/>
          <p:nvPr/>
        </p:nvSpPr>
        <p:spPr>
          <a:xfrm>
            <a:off x="8421624" y="23774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8421624" y="3063240"/>
            <a:ext cx="3035808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Propulsion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8421624" y="3520440"/>
            <a:ext cx="3035808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 commercial (COTS) solid motor, electric igniter, and rocket wadding.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484632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part is COTS or repurposed — no custom fabrication required.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708660"/>
            <a:ext cx="228600" cy="228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457200"/>
            <a:ext cx="102412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Build &amp; Verification Approach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349240" cy="3383280"/>
          </a:xfrm>
          <a:prstGeom prst="roundRect">
            <a:avLst>
              <a:gd name="adj" fmla="val 2162"/>
            </a:avLst>
          </a:prstGeom>
          <a:solidFill>
            <a:srgbClr val="EDF1FA"/>
          </a:solidFill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691640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Materials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194560"/>
            <a:ext cx="4800600" cy="3291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Nose cone — plastic champagne glass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Body — golf-bag tube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Fins — plywood / balsa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Bonding — epoxy glue + hot glue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Recovery — parachute, elastic cord, swivel hooks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Propulsion — COTS motor, igniter, wadding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49240" cy="3383280"/>
          </a:xfrm>
          <a:prstGeom prst="roundRect">
            <a:avLst>
              <a:gd name="adj" fmla="val 2162"/>
            </a:avLst>
          </a:prstGeom>
          <a:solidFill>
            <a:srgbClr val="EDF1FA"/>
          </a:solidFill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537960" y="1691640"/>
            <a:ext cx="48006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Verified via OpenRocket Simulation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6537960" y="2377440"/>
            <a:ext cx="4800600" cy="3108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Stability margin — center of gravity vs. center of pressure, measured in calibers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Predicted altitude &amp; velocity — using published motor thrust-curve data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Recovery timing — parachute/streamer deployment at apogee and descent rate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708660"/>
            <a:ext cx="228600" cy="228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457200"/>
            <a:ext cx="102412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Impact &amp; Benefits</a:t>
            </a:r>
            <a:endParaRPr lang="en-US" sz="3200" dirty="0"/>
          </a:p>
        </p:txBody>
      </p:sp>
      <p:sp>
        <p:nvSpPr>
          <p:cNvPr id="5" name="Shape 2"/>
          <p:cNvSpPr/>
          <p:nvPr>
            <p:custDataLst>
              <p:tags r:id="rId2"/>
            </p:custDataLst>
          </p:nvPr>
        </p:nvSpPr>
        <p:spPr>
          <a:xfrm>
            <a:off x="548640" y="1737360"/>
            <a:ext cx="3584448" cy="2377440"/>
          </a:xfrm>
          <a:prstGeom prst="roundRect">
            <a:avLst>
              <a:gd name="adj" fmla="val 3077"/>
            </a:avLst>
          </a:prstGeom>
          <a:solidFill>
            <a:srgbClr val="EDF1FA"/>
          </a:solidFill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6" name="Text 3"/>
          <p:cNvSpPr txBox="1"/>
          <p:nvPr>
            <p:custDataLst>
              <p:tags r:id="rId3"/>
            </p:custDataLst>
          </p:nvPr>
        </p:nvSpPr>
        <p:spPr>
          <a:xfrm>
            <a:off x="822960" y="2011680"/>
            <a:ext cx="3035808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Near-Zero-Cost</a:t>
            </a:r>
            <a:endParaRPr lang="en-US" sz="2200" dirty="0"/>
          </a:p>
        </p:txBody>
      </p:sp>
      <p:sp>
        <p:nvSpPr>
          <p:cNvPr id="7" name="Text 4"/>
          <p:cNvSpPr txBox="1"/>
          <p:nvPr>
            <p:custDataLst>
              <p:tags r:id="rId4"/>
            </p:custDataLst>
          </p:nvPr>
        </p:nvSpPr>
        <p:spPr>
          <a:xfrm>
            <a:off x="822960" y="2788920"/>
            <a:ext cx="3035808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airframe built from reused household items, not purchased kits.</a:t>
            </a:r>
            <a:endParaRPr lang="en-US" sz="1400" dirty="0"/>
          </a:p>
        </p:txBody>
      </p:sp>
      <p:sp>
        <p:nvSpPr>
          <p:cNvPr id="8" name="Shape 5"/>
          <p:cNvSpPr/>
          <p:nvPr>
            <p:custDataLst>
              <p:tags r:id="rId5"/>
            </p:custDataLst>
          </p:nvPr>
        </p:nvSpPr>
        <p:spPr>
          <a:xfrm>
            <a:off x="4347972" y="1737360"/>
            <a:ext cx="3584448" cy="2377440"/>
          </a:xfrm>
          <a:prstGeom prst="roundRect">
            <a:avLst>
              <a:gd name="adj" fmla="val 3077"/>
            </a:avLst>
          </a:prstGeom>
          <a:solidFill>
            <a:srgbClr val="EDF1FA"/>
          </a:solidFill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9" name="Text 6"/>
          <p:cNvSpPr txBox="1"/>
          <p:nvPr>
            <p:custDataLst>
              <p:tags r:id="rId6"/>
            </p:custDataLst>
          </p:nvPr>
        </p:nvSpPr>
        <p:spPr>
          <a:xfrm>
            <a:off x="4622292" y="2011680"/>
            <a:ext cx="3035808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Fully Replicable</a:t>
            </a:r>
            <a:endParaRPr lang="en-US" sz="2200" dirty="0"/>
          </a:p>
        </p:txBody>
      </p:sp>
      <p:sp>
        <p:nvSpPr>
          <p:cNvPr id="10" name="Text 7"/>
          <p:cNvSpPr txBox="1"/>
          <p:nvPr>
            <p:custDataLst>
              <p:tags r:id="rId7"/>
            </p:custDataLst>
          </p:nvPr>
        </p:nvSpPr>
        <p:spPr>
          <a:xfrm>
            <a:off x="4622292" y="2788920"/>
            <a:ext cx="3035808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 team can rebuild SPCL-1 from a hardware store and household items.</a:t>
            </a:r>
            <a:endParaRPr lang="en-US" sz="1400" dirty="0"/>
          </a:p>
        </p:txBody>
      </p:sp>
      <p:sp>
        <p:nvSpPr>
          <p:cNvPr id="11" name="Shape 8"/>
          <p:cNvSpPr/>
          <p:nvPr>
            <p:custDataLst>
              <p:tags r:id="rId8"/>
            </p:custDataLst>
          </p:nvPr>
        </p:nvSpPr>
        <p:spPr>
          <a:xfrm>
            <a:off x="8147304" y="1737360"/>
            <a:ext cx="3584448" cy="2377440"/>
          </a:xfrm>
          <a:prstGeom prst="roundRect">
            <a:avLst>
              <a:gd name="adj" fmla="val 3077"/>
            </a:avLst>
          </a:prstGeom>
          <a:solidFill>
            <a:srgbClr val="EDF1FA"/>
          </a:solidFill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12" name="Text 9"/>
          <p:cNvSpPr txBox="1"/>
          <p:nvPr>
            <p:custDataLst>
              <p:tags r:id="rId9"/>
            </p:custDataLst>
          </p:nvPr>
        </p:nvSpPr>
        <p:spPr>
          <a:xfrm>
            <a:off x="8421624" y="2011680"/>
            <a:ext cx="3035808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Education First</a:t>
            </a:r>
            <a:endParaRPr lang="en-US" sz="2200" dirty="0"/>
          </a:p>
        </p:txBody>
      </p:sp>
      <p:sp>
        <p:nvSpPr>
          <p:cNvPr id="13" name="Text 10"/>
          <p:cNvSpPr txBox="1"/>
          <p:nvPr>
            <p:custDataLst>
              <p:tags r:id="rId10"/>
            </p:custDataLst>
          </p:nvPr>
        </p:nvSpPr>
        <p:spPr>
          <a:xfrm>
            <a:off x="8421624" y="2788920"/>
            <a:ext cx="3035808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Lowers the barrier to hands-on rocketry learning without importing kits.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708660"/>
            <a:ext cx="228600" cy="228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457200"/>
            <a:ext cx="102412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Prototype: Simulation-Verified Design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 a proposal, SPCL-1 is verified through OpenRocket — a free, open-source flight simulation tool rather than a live launch.</a:t>
            </a:r>
            <a:endParaRPr lang="en-US" sz="1600" dirty="0"/>
          </a:p>
        </p:txBody>
      </p:sp>
      <p:sp>
        <p:nvSpPr>
          <p:cNvPr id="6" name="Shape 3"/>
          <p:cNvSpPr/>
          <p:nvPr>
            <p:custDataLst>
              <p:tags r:id="rId2"/>
            </p:custDataLst>
          </p:nvPr>
        </p:nvSpPr>
        <p:spPr>
          <a:xfrm>
            <a:off x="548640" y="2039112"/>
            <a:ext cx="365760" cy="36576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7" name="Text 4"/>
          <p:cNvSpPr txBox="1"/>
          <p:nvPr>
            <p:custDataLst>
              <p:tags r:id="rId3"/>
            </p:custDataLst>
          </p:nvPr>
        </p:nvSpPr>
        <p:spPr>
          <a:xfrm>
            <a:off x="548640" y="203911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5"/>
          <p:cNvSpPr txBox="1"/>
          <p:nvPr>
            <p:custDataLst>
              <p:tags r:id="rId4"/>
            </p:custDataLst>
          </p:nvPr>
        </p:nvSpPr>
        <p:spPr>
          <a:xfrm>
            <a:off x="1097280" y="20116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Stability margin</a:t>
            </a:r>
            <a:endParaRPr lang="en-US" sz="1700" dirty="0"/>
          </a:p>
        </p:txBody>
      </p:sp>
      <p:sp>
        <p:nvSpPr>
          <p:cNvPr id="9" name="Text 6"/>
          <p:cNvSpPr txBox="1"/>
          <p:nvPr>
            <p:custDataLst>
              <p:tags r:id="rId5"/>
            </p:custDataLst>
          </p:nvPr>
        </p:nvSpPr>
        <p:spPr>
          <a:xfrm>
            <a:off x="1097280" y="239572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CG-vs-CP margin, in calibers — confirms the rocket flies straight instead of tumbling.</a:t>
            </a:r>
            <a:endParaRPr lang="en-US" sz="1350" dirty="0"/>
          </a:p>
        </p:txBody>
      </p:sp>
      <p:sp>
        <p:nvSpPr>
          <p:cNvPr id="10" name="Shape 7"/>
          <p:cNvSpPr/>
          <p:nvPr>
            <p:custDataLst>
              <p:tags r:id="rId6"/>
            </p:custDataLst>
          </p:nvPr>
        </p:nvSpPr>
        <p:spPr>
          <a:xfrm>
            <a:off x="548640" y="2907792"/>
            <a:ext cx="365760" cy="36576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1" name="Text 8"/>
          <p:cNvSpPr txBox="1"/>
          <p:nvPr>
            <p:custDataLst>
              <p:tags r:id="rId7"/>
            </p:custDataLst>
          </p:nvPr>
        </p:nvSpPr>
        <p:spPr>
          <a:xfrm>
            <a:off x="548640" y="290779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9"/>
          <p:cNvSpPr txBox="1"/>
          <p:nvPr>
            <p:custDataLst>
              <p:tags r:id="rId8"/>
            </p:custDataLst>
          </p:nvPr>
        </p:nvSpPr>
        <p:spPr>
          <a:xfrm>
            <a:off x="1097280" y="28803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Predicted altitude &amp; velocity</a:t>
            </a:r>
            <a:endParaRPr lang="en-US" sz="1700" dirty="0"/>
          </a:p>
        </p:txBody>
      </p:sp>
      <p:sp>
        <p:nvSpPr>
          <p:cNvPr id="13" name="Text 10"/>
          <p:cNvSpPr txBox="1"/>
          <p:nvPr>
            <p:custDataLst>
              <p:tags r:id="rId9"/>
            </p:custDataLst>
          </p:nvPr>
        </p:nvSpPr>
        <p:spPr>
          <a:xfrm>
            <a:off x="1097280" y="326440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Modeled from real, published motor thrust-curve data.</a:t>
            </a:r>
            <a:endParaRPr lang="en-US" sz="1350" dirty="0"/>
          </a:p>
        </p:txBody>
      </p:sp>
      <p:sp>
        <p:nvSpPr>
          <p:cNvPr id="14" name="Shape 11"/>
          <p:cNvSpPr/>
          <p:nvPr>
            <p:custDataLst>
              <p:tags r:id="rId10"/>
            </p:custDataLst>
          </p:nvPr>
        </p:nvSpPr>
        <p:spPr>
          <a:xfrm>
            <a:off x="548640" y="3776472"/>
            <a:ext cx="365760" cy="36576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5" name="Text 12"/>
          <p:cNvSpPr txBox="1"/>
          <p:nvPr>
            <p:custDataLst>
              <p:tags r:id="rId11"/>
            </p:custDataLst>
          </p:nvPr>
        </p:nvSpPr>
        <p:spPr>
          <a:xfrm>
            <a:off x="548640" y="377647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3"/>
          <p:cNvSpPr txBox="1"/>
          <p:nvPr>
            <p:custDataLst>
              <p:tags r:id="rId12"/>
            </p:custDataLst>
          </p:nvPr>
        </p:nvSpPr>
        <p:spPr>
          <a:xfrm>
            <a:off x="1097280" y="37490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Recovery timing</a:t>
            </a:r>
            <a:endParaRPr lang="en-US" sz="1700" dirty="0"/>
          </a:p>
        </p:txBody>
      </p:sp>
      <p:sp>
        <p:nvSpPr>
          <p:cNvPr id="17" name="Text 14"/>
          <p:cNvSpPr txBox="1"/>
          <p:nvPr>
            <p:custDataLst>
              <p:tags r:id="rId13"/>
            </p:custDataLst>
          </p:nvPr>
        </p:nvSpPr>
        <p:spPr>
          <a:xfrm>
            <a:off x="1097280" y="413308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Parachute/streamer deployment at apogee, and expected descent rate.</a:t>
            </a:r>
            <a:endParaRPr lang="en-US" sz="1350" dirty="0"/>
          </a:p>
        </p:txBody>
      </p:sp>
      <p:sp>
        <p:nvSpPr>
          <p:cNvPr id="18" name="Shape 15"/>
          <p:cNvSpPr/>
          <p:nvPr>
            <p:custDataLst>
              <p:tags r:id="rId14"/>
            </p:custDataLst>
          </p:nvPr>
        </p:nvSpPr>
        <p:spPr>
          <a:xfrm>
            <a:off x="548640" y="4645152"/>
            <a:ext cx="365760" cy="36576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9" name="Text 16"/>
          <p:cNvSpPr txBox="1"/>
          <p:nvPr>
            <p:custDataLst>
              <p:tags r:id="rId15"/>
            </p:custDataLst>
          </p:nvPr>
        </p:nvSpPr>
        <p:spPr>
          <a:xfrm>
            <a:off x="548640" y="464515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7"/>
          <p:cNvSpPr txBox="1"/>
          <p:nvPr>
            <p:custDataLst>
              <p:tags r:id="rId16"/>
            </p:custDataLst>
          </p:nvPr>
        </p:nvSpPr>
        <p:spPr>
          <a:xfrm>
            <a:off x="1097280" y="46177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Live interactive demo</a:t>
            </a:r>
            <a:endParaRPr lang="en-US" sz="1700" dirty="0"/>
          </a:p>
        </p:txBody>
      </p:sp>
      <p:sp>
        <p:nvSpPr>
          <p:cNvPr id="21" name="Text 18"/>
          <p:cNvSpPr txBox="1"/>
          <p:nvPr>
            <p:custDataLst>
              <p:tags r:id="rId17"/>
            </p:custDataLst>
          </p:nvPr>
        </p:nvSpPr>
        <p:spPr>
          <a:xfrm>
            <a:off x="1097280" y="500176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website with a flight replay dashboard and a working parachute-sizing calculator.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708660"/>
            <a:ext cx="228600" cy="228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457200"/>
            <a:ext cx="102412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Feasibility &amp; Open Questions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5349240" cy="2651760"/>
          </a:xfrm>
          <a:prstGeom prst="roundRect">
            <a:avLst>
              <a:gd name="adj" fmla="val 2759"/>
            </a:avLst>
          </a:prstGeom>
          <a:solidFill>
            <a:srgbClr val="EDF1FA"/>
          </a:solidFill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783080"/>
            <a:ext cx="48006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Confirmed in This Proposal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800600" cy="2926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design specification &amp; bill of materials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Stability &amp; flight verified in OpenRocket simulation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Cost model using published component pricing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63640" y="1554480"/>
            <a:ext cx="5349240" cy="2651760"/>
          </a:xfrm>
          <a:prstGeom prst="roundRect">
            <a:avLst>
              <a:gd name="adj" fmla="val 2759"/>
            </a:avLst>
          </a:prstGeom>
          <a:solidFill>
            <a:srgbClr val="EDF1FA"/>
          </a:solidFill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537960" y="1783080"/>
            <a:ext cx="48006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To Confirm for a Real Build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537960" y="2377440"/>
            <a:ext cx="4800600" cy="2926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Local motor sourcing in Nigeria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Launch airspace clearance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Local material costs vs. published international pricing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CADCFC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708660"/>
            <a:ext cx="228600" cy="228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457200"/>
            <a:ext cx="102412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Team &amp; Roles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1672" cy="3200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22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Team: Agboola David (solo entrant)</a:t>
            </a:r>
            <a:endParaRPr lang="en-US" sz="2000" dirty="0"/>
          </a:p>
          <a:p>
            <a:pPr marL="0" indent="0">
              <a:lnSpc>
                <a:spcPct val="120000"/>
              </a:lnSpc>
              <a:spcAft>
                <a:spcPts val="22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Role: Design, simulation &amp; verification</a:t>
            </a:r>
            <a:endParaRPr lang="en-US" sz="2000" dirty="0"/>
          </a:p>
          <a:p>
            <a:pPr marL="0" indent="0">
              <a:lnSpc>
                <a:spcPct val="120000"/>
              </a:lnSpc>
              <a:spcAft>
                <a:spcPts val="22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Space Club Member: Agboola David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0" y="6309360"/>
            <a:ext cx="12191695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www.spaceclubslasu.org</a:t>
            </a:r>
            <a:endParaRPr lang="en-US" sz="13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41.2,&quot;left&quot;:43.2,&quot;top&quot;:136.8,&quot;width&quot;:880.5600000000001}"/>
</p:tagLst>
</file>

<file path=ppt/tags/tag2.xml><?xml version="1.0" encoding="utf-8"?>
<p:tagLst xmlns:p="http://schemas.openxmlformats.org/presentationml/2006/main">
  <p:tag name="KSO_WM_DIAGRAM_VIRTUALLY_FRAME" val="{&quot;height&quot;:241.2,&quot;left&quot;:43.2,&quot;top&quot;:136.8,&quot;width&quot;:880.5600000000001}"/>
</p:tagLst>
</file>

<file path=ppt/tags/tag3.xml><?xml version="1.0" encoding="utf-8"?>
<p:tagLst xmlns:p="http://schemas.openxmlformats.org/presentationml/2006/main">
  <p:tag name="KSO_WM_DIAGRAM_VIRTUALLY_FRAME" val="{&quot;height&quot;:241.2,&quot;left&quot;:43.2,&quot;top&quot;:136.8,&quot;width&quot;:880.5600000000001}"/>
</p:tagLst>
</file>

<file path=ppt/tags/tag4.xml><?xml version="1.0" encoding="utf-8"?>
<p:tagLst xmlns:p="http://schemas.openxmlformats.org/presentationml/2006/main">
  <p:tag name="KSO_WM_DIAGRAM_VIRTUALLY_FRAME" val="{&quot;height&quot;:241.2,&quot;left&quot;:43.2,&quot;top&quot;:136.8,&quot;width&quot;:880.5600000000001}"/>
</p:tagLst>
</file>

<file path=ppt/tags/tag5.xml><?xml version="1.0" encoding="utf-8"?>
<p:tagLst xmlns:p="http://schemas.openxmlformats.org/presentationml/2006/main">
  <p:tag name="KSO_WM_DIAGRAM_VIRTUALLY_FRAME" val="{&quot;height&quot;:241.2,&quot;left&quot;:43.2,&quot;top&quot;:136.8,&quot;width&quot;:880.5600000000001}"/>
</p:tagLst>
</file>

<file path=ppt/tags/tag6.xml><?xml version="1.0" encoding="utf-8"?>
<p:tagLst xmlns:p="http://schemas.openxmlformats.org/presentationml/2006/main">
  <p:tag name="KSO_WM_DIAGRAM_VIRTUALLY_FRAME" val="{&quot;height&quot;:241.2,&quot;left&quot;:43.2,&quot;top&quot;:136.8,&quot;width&quot;:880.5600000000001}"/>
</p:tagLst>
</file>

<file path=ppt/tags/tag7.xml><?xml version="1.0" encoding="utf-8"?>
<p:tagLst xmlns:p="http://schemas.openxmlformats.org/presentationml/2006/main">
  <p:tag name="KSO_WM_DIAGRAM_VIRTUALLY_FRAME" val="{&quot;height&quot;:241.2,&quot;left&quot;:43.2,&quot;top&quot;:136.8,&quot;width&quot;:880.5600000000001}"/>
</p:tagLst>
</file>

<file path=ppt/tags/tag8.xml><?xml version="1.0" encoding="utf-8"?>
<p:tagLst xmlns:p="http://schemas.openxmlformats.org/presentationml/2006/main">
  <p:tag name="KSO_WM_DIAGRAM_VIRTUALLY_FRAME" val="{&quot;height&quot;:241.2,&quot;left&quot;:43.2,&quot;top&quot;:136.8,&quot;width&quot;:880.5600000000001}"/>
</p:tagLst>
</file>

<file path=ppt/tags/tag9.xml><?xml version="1.0" encoding="utf-8"?>
<p:tagLst xmlns:p="http://schemas.openxmlformats.org/presentationml/2006/main">
  <p:tag name="KSO_WM_DIAGRAM_VIRTUALLY_FRAME" val="{&quot;height&quot;:241.2,&quot;left&quot;:43.2,&quot;top&quot;:136.8,&quot;width&quot;:880.5600000000001}"/>
</p:tagLst>
</file>

<file path=ppt/tags/tag10.xml><?xml version="1.0" encoding="utf-8"?>
<p:tagLst xmlns:p="http://schemas.openxmlformats.org/presentationml/2006/main">
  <p:tag name="KSO_WM_DIAGRAM_VIRTUALLY_FRAME" val="{&quot;height&quot;:264.23999999999995,&quot;left&quot;:43.2,&quot;top&quot;:158.4,&quot;width&quot;:871.2}"/>
</p:tagLst>
</file>

<file path=ppt/tags/tag11.xml><?xml version="1.0" encoding="utf-8"?>
<p:tagLst xmlns:p="http://schemas.openxmlformats.org/presentationml/2006/main">
  <p:tag name="KSO_WM_DIAGRAM_VIRTUALLY_FRAME" val="{&quot;height&quot;:264.23999999999995,&quot;left&quot;:43.2,&quot;top&quot;:158.4,&quot;width&quot;:871.2}"/>
</p:tagLst>
</file>

<file path=ppt/tags/tag12.xml><?xml version="1.0" encoding="utf-8"?>
<p:tagLst xmlns:p="http://schemas.openxmlformats.org/presentationml/2006/main">
  <p:tag name="KSO_WM_DIAGRAM_VIRTUALLY_FRAME" val="{&quot;height&quot;:264.23999999999995,&quot;left&quot;:43.2,&quot;top&quot;:158.4,&quot;width&quot;:871.2}"/>
</p:tagLst>
</file>

<file path=ppt/tags/tag13.xml><?xml version="1.0" encoding="utf-8"?>
<p:tagLst xmlns:p="http://schemas.openxmlformats.org/presentationml/2006/main">
  <p:tag name="KSO_WM_DIAGRAM_VIRTUALLY_FRAME" val="{&quot;height&quot;:264.23999999999995,&quot;left&quot;:43.2,&quot;top&quot;:158.4,&quot;width&quot;:871.2}"/>
</p:tagLst>
</file>

<file path=ppt/tags/tag14.xml><?xml version="1.0" encoding="utf-8"?>
<p:tagLst xmlns:p="http://schemas.openxmlformats.org/presentationml/2006/main">
  <p:tag name="KSO_WM_DIAGRAM_VIRTUALLY_FRAME" val="{&quot;height&quot;:264.23999999999995,&quot;left&quot;:43.2,&quot;top&quot;:158.4,&quot;width&quot;:871.2}"/>
</p:tagLst>
</file>

<file path=ppt/tags/tag15.xml><?xml version="1.0" encoding="utf-8"?>
<p:tagLst xmlns:p="http://schemas.openxmlformats.org/presentationml/2006/main">
  <p:tag name="KSO_WM_DIAGRAM_VIRTUALLY_FRAME" val="{&quot;height&quot;:264.23999999999995,&quot;left&quot;:43.2,&quot;top&quot;:158.4,&quot;width&quot;:871.2}"/>
</p:tagLst>
</file>

<file path=ppt/tags/tag16.xml><?xml version="1.0" encoding="utf-8"?>
<p:tagLst xmlns:p="http://schemas.openxmlformats.org/presentationml/2006/main">
  <p:tag name="KSO_WM_DIAGRAM_VIRTUALLY_FRAME" val="{&quot;height&quot;:264.23999999999995,&quot;left&quot;:43.2,&quot;top&quot;:158.4,&quot;width&quot;:871.2}"/>
</p:tagLst>
</file>

<file path=ppt/tags/tag17.xml><?xml version="1.0" encoding="utf-8"?>
<p:tagLst xmlns:p="http://schemas.openxmlformats.org/presentationml/2006/main">
  <p:tag name="KSO_WM_DIAGRAM_VIRTUALLY_FRAME" val="{&quot;height&quot;:264.23999999999995,&quot;left&quot;:43.2,&quot;top&quot;:158.4,&quot;width&quot;:871.2}"/>
</p:tagLst>
</file>

<file path=ppt/tags/tag18.xml><?xml version="1.0" encoding="utf-8"?>
<p:tagLst xmlns:p="http://schemas.openxmlformats.org/presentationml/2006/main">
  <p:tag name="KSO_WM_DIAGRAM_VIRTUALLY_FRAME" val="{&quot;height&quot;:264.23999999999995,&quot;left&quot;:43.2,&quot;top&quot;:158.4,&quot;width&quot;:871.2}"/>
</p:tagLst>
</file>

<file path=ppt/tags/tag19.xml><?xml version="1.0" encoding="utf-8"?>
<p:tagLst xmlns:p="http://schemas.openxmlformats.org/presentationml/2006/main">
  <p:tag name="KSO_WM_DIAGRAM_VIRTUALLY_FRAME" val="{&quot;height&quot;:264.23999999999995,&quot;left&quot;:43.2,&quot;top&quot;:158.4,&quot;width&quot;:871.2}"/>
</p:tagLst>
</file>

<file path=ppt/tags/tag20.xml><?xml version="1.0" encoding="utf-8"?>
<p:tagLst xmlns:p="http://schemas.openxmlformats.org/presentationml/2006/main">
  <p:tag name="KSO_WM_DIAGRAM_VIRTUALLY_FRAME" val="{&quot;height&quot;:264.23999999999995,&quot;left&quot;:43.2,&quot;top&quot;:158.4,&quot;width&quot;:871.2}"/>
</p:tagLst>
</file>

<file path=ppt/tags/tag21.xml><?xml version="1.0" encoding="utf-8"?>
<p:tagLst xmlns:p="http://schemas.openxmlformats.org/presentationml/2006/main">
  <p:tag name="KSO_WM_DIAGRAM_VIRTUALLY_FRAME" val="{&quot;height&quot;:264.23999999999995,&quot;left&quot;:43.2,&quot;top&quot;:158.4,&quot;width&quot;:871.2}"/>
</p:tagLst>
</file>

<file path=ppt/tags/tag22.xml><?xml version="1.0" encoding="utf-8"?>
<p:tagLst xmlns:p="http://schemas.openxmlformats.org/presentationml/2006/main">
  <p:tag name="KSO_WM_DIAGRAM_VIRTUALLY_FRAME" val="{&quot;height&quot;:264.23999999999995,&quot;left&quot;:43.2,&quot;top&quot;:158.4,&quot;width&quot;:871.2}"/>
</p:tagLst>
</file>

<file path=ppt/tags/tag23.xml><?xml version="1.0" encoding="utf-8"?>
<p:tagLst xmlns:p="http://schemas.openxmlformats.org/presentationml/2006/main">
  <p:tag name="KSO_WM_DIAGRAM_VIRTUALLY_FRAME" val="{&quot;height&quot;:264.23999999999995,&quot;left&quot;:43.2,&quot;top&quot;:158.4,&quot;width&quot;:871.2}"/>
</p:tagLst>
</file>

<file path=ppt/tags/tag24.xml><?xml version="1.0" encoding="utf-8"?>
<p:tagLst xmlns:p="http://schemas.openxmlformats.org/presentationml/2006/main">
  <p:tag name="KSO_WM_DIAGRAM_VIRTUALLY_FRAME" val="{&quot;height&quot;:264.23999999999995,&quot;left&quot;:43.2,&quot;top&quot;:158.4,&quot;width&quot;:871.2}"/>
</p:tagLst>
</file>

<file path=ppt/tags/tag25.xml><?xml version="1.0" encoding="utf-8"?>
<p:tagLst xmlns:p="http://schemas.openxmlformats.org/presentationml/2006/main">
  <p:tag name="KSO_WM_DIAGRAM_VIRTUALLY_FRAME" val="{&quot;height&quot;:264.23999999999995,&quot;left&quot;:43.2,&quot;top&quot;:158.4,&quot;width&quot;:871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2797</Words>
  <Application>WPS Presentation</Application>
  <PresentationFormat>On-screen Show (16:9)</PresentationFormat>
  <Paragraphs>124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USER</cp:lastModifiedBy>
  <cp:revision>3</cp:revision>
  <dcterms:created xsi:type="dcterms:W3CDTF">2026-10-03T11:35:00Z</dcterms:created>
  <dcterms:modified xsi:type="dcterms:W3CDTF">2026-10-10T09:48:15Z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3F25CED774AF4396AB2A311A15A87686_12</vt:lpwstr>
  </property>
  <property fmtid="{D5CDD505-2E9C-101B-9397-08002B2CF9AE}" pid="3" name="KSOProductBuildVer">
    <vt:lpwstr>1033-12.2.0.23196</vt:lpwstr>
  </property>
</Properties>
</file>